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embeddedFontLst>
    <p:embeddedFont>
      <p:font typeface="JetBrains Mono" panose="02000009000000000000" pitchFamily="49" charset="0"/>
      <p:regular r:id="rId13"/>
      <p:bold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Aqvyn. For PS-02 we are building an agentic paper-trading bot. The idea in one line: the LLM proposes, deterministic code disposes. The model can analyse, backtest and explain, but position sizing, stop-losses, the daily loss limit and the kill switch live in plain code the model cannot override. Everything is paper trading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 is a retail trader who wants discipline without a black box. Three failure points: too much information, rules that get skipped under pressure, and bots that cannot explain themselves. An agent fits because the job is a loop: read, test, decide, act within limits, record, learn. A one-shot chatbot cannot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day the agent reads the market and news through read-only tools, backtests every candidate strategy on a trailing window, and picks the one with the best risk-adjusted result. When a strategy fires a signal the agent reviews it: confirm, veto, or shrink. The risk gate, written in plain code, sizes the trade and places the paper order. Every decision, including trades skipped, goes into a plain-language journal. We tested the tool protocol against a real model, gemini-3.7-flash, and found it sometimes skipped the news check, so the agent now requires specific tool calls before it accepts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PS-02 must-haves: position sizing, stop-losses, a daily loss limit and a human kill switch. The key design choice is that none of these live in a prompt. They are plain code between the model and the broker. The model can say no or ask for less, never more. We have a unit test that runs a reckless model against the gatekeeper to prove it. The kill switch is a dashboard button or a file named KILL_SWITCH; it blocks new entries immediately and can optionally flatten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an idea-stage prototype to test the design before the build window. Across 30 random synthetic markets the agent keeps drawdown to about a third of buy-and-hold, protects capital in falling markets, and lags in rising ones. It beat buy-and-hold in 9 of 30. We say this plainly: the pitch is disciplined, explainable risk control, not beating the market. These numbers come from synthetic data and a rule-based stand-in for the LLM, so they validate the plumbing and guardrails, not real-world returns. We also ran one full session with the live model, gemini-3.7-flash: zero fallbacks, plus 3.6 percent against minus 7.9 for buy-and-hold, with drawdown of 2.3 percent against 13.4. That is a single synthetic run, so we show it as a working end-to-end check, not a result. The final build runs on real price history and the report will compare against buy-and-hold as PS-02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validated the design with an idea-stage prototype, and the final repository and demo are built inside the 24-hour window, 11 November 10:00 to 12 November 10:00 IST. The plan puts the core and risk gate first, then the agent, then proof against buy-and-hold on real prices, then the README, three-minute video and final deck. The bottom row is the judging rubric: we spend our effort where the weight is, problem fit and agent design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B2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8" y="1127665"/>
            <a:ext cx="10566370" cy="502920"/>
          </a:xfrm>
          <a:prstGeom prst="rect">
            <a:avLst/>
          </a:prstGeom>
          <a:noFill/>
          <a:ln/>
        </p:spPr>
        <p:txBody>
          <a:bodyPr wrap="square" lIns="0" tIns="0" rIns="0" bIns="0" rtlCol="0" anchor="t"/>
          <a:lstStyle>
            <a:lvl1pPr algn="l" indent="0" marL="0">
              <a:lnSpc>
                <a:spcPct val="115000"/>
              </a:lnSpc>
              <a:buNone/>
              <a:defRPr lang="en-US" sz="3600" dirty="0">
                <a:solidFill>
                  <a:srgbClr val="EDE9D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8" y="1935385"/>
            <a:ext cx="10566432" cy="4109815"/>
          </a:xfrm>
          <a:prstGeom prst="rect">
            <a:avLst/>
          </a:prstGeom>
          <a:noFill/>
          <a:ln/>
        </p:spPr>
        <p:txBody>
          <a:bodyPr wrap="square" lIns="0" tIns="0" rIns="0" bIns="0" rtlCol="0" anchor="t"/>
          <a:lstStyle>
            <a:lvl1pPr algn="l" indent="0" marL="0">
              <a:lnSpc>
                <a:spcPct val="140000"/>
              </a:lnSpc>
              <a:buNone/>
              <a:defRPr lang="en-US" sz="1600" dirty="0">
                <a:solidFill>
                  <a:srgbClr val="EDE9D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B2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8" y="1127665"/>
            <a:ext cx="10566370" cy="502920"/>
          </a:xfrm>
          <a:prstGeom prst="rect">
            <a:avLst/>
          </a:prstGeom>
          <a:noFill/>
          <a:ln/>
        </p:spPr>
        <p:txBody>
          <a:bodyPr wrap="square" lIns="0" tIns="0" rIns="0" bIns="0" rtlCol="0" anchor="t"/>
          <a:lstStyle>
            <a:lvl1pPr algn="l" indent="0" marL="0">
              <a:lnSpc>
                <a:spcPct val="115000"/>
              </a:lnSpc>
              <a:buNone/>
              <a:defRPr lang="en-US" sz="3600" dirty="0">
                <a:solidFill>
                  <a:srgbClr val="EDE9D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8" y="1935385"/>
            <a:ext cx="10566432" cy="4109815"/>
          </a:xfrm>
          <a:prstGeom prst="rect">
            <a:avLst/>
          </a:prstGeom>
          <a:noFill/>
          <a:ln/>
        </p:spPr>
        <p:txBody>
          <a:bodyPr wrap="square" lIns="0" tIns="0" rIns="0" bIns="0" rtlCol="0" anchor="t"/>
          <a:lstStyle>
            <a:lvl1pPr algn="l" indent="0" marL="0">
              <a:lnSpc>
                <a:spcPct val="140000"/>
              </a:lnSpc>
              <a:buNone/>
              <a:defRPr lang="en-US" sz="1600" dirty="0">
                <a:solidFill>
                  <a:srgbClr val="EDE9D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68" y="812768"/>
            <a:ext cx="1088336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D6B0"/>
                </a:solidFill>
                <a:latin typeface="JetBrains Mono" pitchFamily="49" charset="0"/>
                <a:ea typeface="JetBrains Mono" pitchFamily="49" charset="-122"/>
                <a:cs typeface="JetBrains Mono" pitchFamily="49" charset="-120"/>
              </a:rPr>
              <a:t>AGENTX HACKATHON 2026 · PS-02 · TEAM AQVYN</a:t>
            </a:r>
            <a:endParaRPr lang="en-US" sz="1200" dirty="0"/>
          </a:p>
        </p:txBody>
      </p:sp>
      <p:sp>
        <p:nvSpPr>
          <p:cNvPr id="3" name="Text 1"/>
          <p:cNvSpPr/>
          <p:nvPr>
            <p:ph type="title"/>
          </p:nvPr>
        </p:nvSpPr>
        <p:spPr>
          <a:xfrm>
            <a:off x="812768" y="1809655"/>
            <a:ext cx="10883361"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DE9DF"/>
                </a:solidFill>
                <a:latin typeface="IBM Plex Sans" pitchFamily="34" charset="0"/>
                <a:ea typeface="IBM Plex Sans" pitchFamily="34" charset="-122"/>
                <a:cs typeface="IBM Plex Sans" pitchFamily="34" charset="-120"/>
              </a:rPr>
              <a:t>A paper-trading agent that shows its work</a:t>
            </a:r>
            <a:endParaRPr lang="en-US" sz="6000" dirty="0"/>
          </a:p>
        </p:txBody>
      </p:sp>
      <p:sp>
        <p:nvSpPr>
          <p:cNvPr id="4" name="Text 2"/>
          <p:cNvSpPr/>
          <p:nvPr/>
        </p:nvSpPr>
        <p:spPr>
          <a:xfrm>
            <a:off x="812768" y="3663792"/>
            <a:ext cx="8502586"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9C7"/>
                </a:solidFill>
                <a:latin typeface="IBM Plex Sans" pitchFamily="34" charset="0"/>
                <a:ea typeface="IBM Plex Sans" pitchFamily="34" charset="-122"/>
                <a:cs typeface="IBM Plex Sans" pitchFamily="34" charset="-120"/>
              </a:rPr>
              <a:t>It backtests strategies, sizes every trade inside hard risk limits, and explains each decision in plain language. A human holds the kill switch.</a:t>
            </a:r>
            <a:endParaRPr lang="en-US" sz="1600" dirty="0"/>
          </a:p>
        </p:txBody>
      </p:sp>
      <p:sp>
        <p:nvSpPr>
          <p:cNvPr id="5" name="Shape 3"/>
          <p:cNvSpPr/>
          <p:nvPr/>
        </p:nvSpPr>
        <p:spPr>
          <a:xfrm>
            <a:off x="812768" y="5025677"/>
            <a:ext cx="3386614" cy="0"/>
          </a:xfrm>
          <a:prstGeom prst="line">
            <a:avLst/>
          </a:prstGeom>
          <a:noFill/>
          <a:ln w="19050">
            <a:solidFill>
              <a:srgbClr val="3DD6B0"/>
            </a:solidFill>
            <a:prstDash val="solid"/>
          </a:ln>
        </p:spPr>
      </p:sp>
      <p:sp>
        <p:nvSpPr>
          <p:cNvPr id="6" name="Text 4"/>
          <p:cNvSpPr/>
          <p:nvPr/>
        </p:nvSpPr>
        <p:spPr>
          <a:xfrm>
            <a:off x="812768" y="5186744"/>
            <a:ext cx="3488213"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1%</a:t>
            </a:r>
            <a:endParaRPr lang="en-US" sz="2200" dirty="0"/>
          </a:p>
        </p:txBody>
      </p:sp>
      <p:sp>
        <p:nvSpPr>
          <p:cNvPr id="7" name="Text 5"/>
          <p:cNvSpPr/>
          <p:nvPr/>
        </p:nvSpPr>
        <p:spPr>
          <a:xfrm>
            <a:off x="812768" y="5628609"/>
            <a:ext cx="34882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risk per trade, stop-loss required</a:t>
            </a:r>
            <a:endParaRPr lang="en-US" sz="1200" dirty="0"/>
          </a:p>
        </p:txBody>
      </p:sp>
      <p:sp>
        <p:nvSpPr>
          <p:cNvPr id="8" name="Shape 6"/>
          <p:cNvSpPr/>
          <p:nvPr/>
        </p:nvSpPr>
        <p:spPr>
          <a:xfrm>
            <a:off x="4402551" y="5025677"/>
            <a:ext cx="3386710" cy="0"/>
          </a:xfrm>
          <a:prstGeom prst="line">
            <a:avLst/>
          </a:prstGeom>
          <a:noFill/>
          <a:ln w="19050">
            <a:solidFill>
              <a:srgbClr val="3DD6B0"/>
            </a:solidFill>
            <a:prstDash val="solid"/>
          </a:ln>
        </p:spPr>
      </p:sp>
      <p:sp>
        <p:nvSpPr>
          <p:cNvPr id="9" name="Text 7"/>
          <p:cNvSpPr/>
          <p:nvPr/>
        </p:nvSpPr>
        <p:spPr>
          <a:xfrm>
            <a:off x="4402551" y="5186744"/>
            <a:ext cx="3488311"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2%</a:t>
            </a:r>
            <a:endParaRPr lang="en-US" sz="2200" dirty="0"/>
          </a:p>
        </p:txBody>
      </p:sp>
      <p:sp>
        <p:nvSpPr>
          <p:cNvPr id="10" name="Text 8"/>
          <p:cNvSpPr/>
          <p:nvPr/>
        </p:nvSpPr>
        <p:spPr>
          <a:xfrm>
            <a:off x="4402551" y="5628609"/>
            <a:ext cx="3488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daily loss limit halts new entries</a:t>
            </a:r>
            <a:endParaRPr lang="en-US" sz="1200" dirty="0"/>
          </a:p>
        </p:txBody>
      </p:sp>
      <p:sp>
        <p:nvSpPr>
          <p:cNvPr id="11" name="Shape 9"/>
          <p:cNvSpPr/>
          <p:nvPr/>
        </p:nvSpPr>
        <p:spPr>
          <a:xfrm>
            <a:off x="7992428" y="5025677"/>
            <a:ext cx="3386710" cy="0"/>
          </a:xfrm>
          <a:prstGeom prst="line">
            <a:avLst/>
          </a:prstGeom>
          <a:noFill/>
          <a:ln w="19050">
            <a:solidFill>
              <a:srgbClr val="3DD6B0"/>
            </a:solidFill>
            <a:prstDash val="solid"/>
          </a:ln>
        </p:spPr>
      </p:sp>
      <p:sp>
        <p:nvSpPr>
          <p:cNvPr id="12" name="Text 10"/>
          <p:cNvSpPr/>
          <p:nvPr/>
        </p:nvSpPr>
        <p:spPr>
          <a:xfrm>
            <a:off x="7992428" y="5186744"/>
            <a:ext cx="3488311"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1</a:t>
            </a:r>
            <a:endParaRPr lang="en-US" sz="2200" dirty="0"/>
          </a:p>
        </p:txBody>
      </p:sp>
      <p:sp>
        <p:nvSpPr>
          <p:cNvPr id="13" name="Text 11"/>
          <p:cNvSpPr/>
          <p:nvPr/>
        </p:nvSpPr>
        <p:spPr>
          <a:xfrm>
            <a:off x="7992428" y="5628609"/>
            <a:ext cx="3488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human kill switch, always reachable</a:t>
            </a:r>
            <a:endParaRPr lang="en-US" sz="1200" dirty="0"/>
          </a:p>
        </p:txBody>
      </p:sp>
      <p:sp>
        <p:nvSpPr>
          <p:cNvPr id="14" name="Text 12"/>
          <p:cNvSpPr/>
          <p:nvPr/>
        </p:nvSpPr>
        <p:spPr>
          <a:xfrm>
            <a:off x="812768" y="6238209"/>
            <a:ext cx="10883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Paper trading only. No real money, no live broker.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768" y="812768"/>
            <a:ext cx="1088336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2"/>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768" y="1127665"/>
            <a:ext cx="108833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Where retail trading breaks down</a:t>
            </a:r>
            <a:endParaRPr lang="en-US" sz="3600" dirty="0"/>
          </a:p>
        </p:txBody>
      </p:sp>
      <p:sp>
        <p:nvSpPr>
          <p:cNvPr id="4" name="Shape 2"/>
          <p:cNvSpPr/>
          <p:nvPr/>
        </p:nvSpPr>
        <p:spPr>
          <a:xfrm>
            <a:off x="819118" y="2224722"/>
            <a:ext cx="3407823" cy="1733233"/>
          </a:xfrm>
          <a:prstGeom prst="roundRect">
            <a:avLst>
              <a:gd name="adj" fmla="val 5496"/>
            </a:avLst>
          </a:prstGeom>
          <a:solidFill>
            <a:srgbClr val="FBF9F4"/>
          </a:solidFill>
          <a:ln w="12700">
            <a:solidFill>
              <a:srgbClr val="D9D4C7"/>
            </a:solidFill>
            <a:prstDash val="solid"/>
          </a:ln>
        </p:spPr>
      </p:sp>
      <p:sp>
        <p:nvSpPr>
          <p:cNvPr id="5" name="Text 3"/>
          <p:cNvSpPr/>
          <p:nvPr/>
        </p:nvSpPr>
        <p:spPr>
          <a:xfrm>
            <a:off x="1053465" y="2459069"/>
            <a:ext cx="3027304" cy="360585"/>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Too much noise</a:t>
            </a:r>
            <a:endParaRPr lang="en-US" sz="2200" dirty="0"/>
          </a:p>
        </p:txBody>
      </p:sp>
      <p:sp>
        <p:nvSpPr>
          <p:cNvPr id="6" name="Text 4"/>
          <p:cNvSpPr/>
          <p:nvPr/>
        </p:nvSpPr>
        <p:spPr>
          <a:xfrm>
            <a:off x="1053465" y="2870359"/>
            <a:ext cx="3027304" cy="87865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Prices, headlines and tips arrive faster than anyone can weigh them.</a:t>
            </a:r>
            <a:endParaRPr lang="en-US" sz="1600" dirty="0"/>
          </a:p>
        </p:txBody>
      </p:sp>
      <p:sp>
        <p:nvSpPr>
          <p:cNvPr id="7" name="Shape 5"/>
          <p:cNvSpPr/>
          <p:nvPr/>
        </p:nvSpPr>
        <p:spPr>
          <a:xfrm>
            <a:off x="4391947" y="2224722"/>
            <a:ext cx="3407919" cy="1733233"/>
          </a:xfrm>
          <a:prstGeom prst="roundRect">
            <a:avLst>
              <a:gd name="adj" fmla="val 5496"/>
            </a:avLst>
          </a:prstGeom>
          <a:solidFill>
            <a:srgbClr val="FBF9F4"/>
          </a:solidFill>
          <a:ln w="12700">
            <a:solidFill>
              <a:srgbClr val="D9D4C7"/>
            </a:solidFill>
            <a:prstDash val="solid"/>
          </a:ln>
        </p:spPr>
      </p:sp>
      <p:sp>
        <p:nvSpPr>
          <p:cNvPr id="8" name="Text 6"/>
          <p:cNvSpPr/>
          <p:nvPr/>
        </p:nvSpPr>
        <p:spPr>
          <a:xfrm>
            <a:off x="4626293" y="2459069"/>
            <a:ext cx="3027402" cy="360585"/>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Skipped rules</a:t>
            </a:r>
            <a:endParaRPr lang="en-US" sz="2200" dirty="0"/>
          </a:p>
        </p:txBody>
      </p:sp>
      <p:sp>
        <p:nvSpPr>
          <p:cNvPr id="9" name="Text 7"/>
          <p:cNvSpPr/>
          <p:nvPr/>
        </p:nvSpPr>
        <p:spPr>
          <a:xfrm>
            <a:off x="4626293" y="2870359"/>
            <a:ext cx="3027402" cy="87865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Stops and position sizes are the first things dropped when emotions run high.</a:t>
            </a:r>
            <a:endParaRPr lang="en-US" sz="1600" dirty="0"/>
          </a:p>
        </p:txBody>
      </p:sp>
      <p:sp>
        <p:nvSpPr>
          <p:cNvPr id="10" name="Shape 8"/>
          <p:cNvSpPr/>
          <p:nvPr/>
        </p:nvSpPr>
        <p:spPr>
          <a:xfrm>
            <a:off x="7964870" y="2224722"/>
            <a:ext cx="3407919" cy="1733233"/>
          </a:xfrm>
          <a:prstGeom prst="roundRect">
            <a:avLst>
              <a:gd name="adj" fmla="val 5496"/>
            </a:avLst>
          </a:prstGeom>
          <a:solidFill>
            <a:srgbClr val="FBF9F4"/>
          </a:solidFill>
          <a:ln w="12700">
            <a:solidFill>
              <a:srgbClr val="D9D4C7"/>
            </a:solidFill>
            <a:prstDash val="solid"/>
          </a:ln>
        </p:spPr>
      </p:sp>
      <p:sp>
        <p:nvSpPr>
          <p:cNvPr id="11" name="Text 9"/>
          <p:cNvSpPr/>
          <p:nvPr/>
        </p:nvSpPr>
        <p:spPr>
          <a:xfrm>
            <a:off x="8199217" y="2459069"/>
            <a:ext cx="3027402" cy="360585"/>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No explanation</a:t>
            </a:r>
            <a:endParaRPr lang="en-US" sz="2200" dirty="0"/>
          </a:p>
        </p:txBody>
      </p:sp>
      <p:sp>
        <p:nvSpPr>
          <p:cNvPr id="12" name="Text 10"/>
          <p:cNvSpPr/>
          <p:nvPr/>
        </p:nvSpPr>
        <p:spPr>
          <a:xfrm>
            <a:off x="8199217" y="2870359"/>
            <a:ext cx="3027402" cy="87865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Black-box bots trade without saying why, so nobody can trust or audit them.</a:t>
            </a:r>
            <a:endParaRPr lang="en-US" sz="1600" dirty="0"/>
          </a:p>
        </p:txBody>
      </p:sp>
      <p:sp>
        <p:nvSpPr>
          <p:cNvPr id="13" name="Shape 11"/>
          <p:cNvSpPr/>
          <p:nvPr/>
        </p:nvSpPr>
        <p:spPr>
          <a:xfrm>
            <a:off x="812768" y="4551998"/>
            <a:ext cx="10566370" cy="1289971"/>
          </a:xfrm>
          <a:prstGeom prst="roundRect">
            <a:avLst>
              <a:gd name="adj" fmla="val 7876"/>
            </a:avLst>
          </a:prstGeom>
          <a:solidFill>
            <a:srgbClr val="0F1B2D"/>
          </a:solidFill>
          <a:ln/>
        </p:spPr>
      </p:sp>
      <p:sp>
        <p:nvSpPr>
          <p:cNvPr id="14" name="Text 12"/>
          <p:cNvSpPr/>
          <p:nvPr/>
        </p:nvSpPr>
        <p:spPr>
          <a:xfrm>
            <a:off x="1092137" y="4780503"/>
            <a:ext cx="1030786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D6B0"/>
                </a:solidFill>
                <a:latin typeface="JetBrains Mono" pitchFamily="49" charset="0"/>
                <a:ea typeface="JetBrains Mono" pitchFamily="49" charset="-122"/>
                <a:cs typeface="JetBrains Mono" pitchFamily="49" charset="-120"/>
              </a:rPr>
              <a:t>WHY AN AGENT, NOT A CHATBOT</a:t>
            </a:r>
            <a:endParaRPr lang="en-US" sz="1200" dirty="0"/>
          </a:p>
        </p:txBody>
      </p:sp>
      <p:sp>
        <p:nvSpPr>
          <p:cNvPr id="15" name="Text 13"/>
          <p:cNvSpPr/>
          <p:nvPr/>
        </p:nvSpPr>
        <p:spPr>
          <a:xfrm>
            <a:off x="1092137" y="5044631"/>
            <a:ext cx="10307862"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DE9DF"/>
                </a:solidFill>
                <a:latin typeface="IBM Plex Sans" pitchFamily="34" charset="0"/>
                <a:ea typeface="IBM Plex Sans" pitchFamily="34" charset="-122"/>
                <a:cs typeface="IBM Plex Sans" pitchFamily="34" charset="-120"/>
              </a:rPr>
              <a:t>A chatbot answers once. An agent reads data, tests strategies, acts inside hard limits, writes down why, and remembers what worked.</a:t>
            </a:r>
            <a:endParaRPr lang="en-US" sz="1600" dirty="0"/>
          </a:p>
        </p:txBody>
      </p:sp>
      <p:sp>
        <p:nvSpPr>
          <p:cNvPr id="16" name="Text 14"/>
          <p:cNvSpPr/>
          <p:nvPr/>
        </p:nvSpPr>
        <p:spPr>
          <a:xfrm>
            <a:off x="812768" y="6238209"/>
            <a:ext cx="10883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Team Aqvyn · PS-02 · 2 / 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768" y="812767"/>
            <a:ext cx="1088336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2"/>
                </a:solidFill>
                <a:latin typeface="JetBrains Mono" pitchFamily="49" charset="0"/>
                <a:ea typeface="JetBrains Mono" pitchFamily="49" charset="-122"/>
                <a:cs typeface="JetBrains Mono" pitchFamily="49" charset="-120"/>
              </a:rPr>
              <a:t>THE AGENT</a:t>
            </a:r>
            <a:endParaRPr lang="en-US" sz="1200" dirty="0"/>
          </a:p>
        </p:txBody>
      </p:sp>
      <p:sp>
        <p:nvSpPr>
          <p:cNvPr id="3" name="Text 1"/>
          <p:cNvSpPr/>
          <p:nvPr>
            <p:ph type="title"/>
          </p:nvPr>
        </p:nvSpPr>
        <p:spPr>
          <a:xfrm>
            <a:off x="812768" y="1127665"/>
            <a:ext cx="108833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One loop, six steps, every day</a:t>
            </a:r>
            <a:endParaRPr lang="en-US" sz="3600" dirty="0"/>
          </a:p>
        </p:txBody>
      </p:sp>
      <p:sp>
        <p:nvSpPr>
          <p:cNvPr id="4" name="Shape 2"/>
          <p:cNvSpPr/>
          <p:nvPr/>
        </p:nvSpPr>
        <p:spPr>
          <a:xfrm>
            <a:off x="819118" y="2438845"/>
            <a:ext cx="1621409" cy="1565879"/>
          </a:xfrm>
          <a:prstGeom prst="roundRect">
            <a:avLst>
              <a:gd name="adj" fmla="val 6083"/>
            </a:avLst>
          </a:prstGeom>
          <a:solidFill>
            <a:srgbClr val="FBF9F4"/>
          </a:solidFill>
          <a:ln w="12700">
            <a:solidFill>
              <a:srgbClr val="D9D4C7"/>
            </a:solidFill>
            <a:prstDash val="solid"/>
          </a:ln>
        </p:spPr>
      </p:sp>
      <p:sp>
        <p:nvSpPr>
          <p:cNvPr id="5" name="Text 3"/>
          <p:cNvSpPr/>
          <p:nvPr/>
        </p:nvSpPr>
        <p:spPr>
          <a:xfrm>
            <a:off x="1002697" y="2622423"/>
            <a:ext cx="13050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62"/>
                </a:solidFill>
                <a:latin typeface="JetBrains Mono" pitchFamily="49" charset="0"/>
                <a:ea typeface="JetBrains Mono" pitchFamily="49" charset="-122"/>
                <a:cs typeface="JetBrains Mono" pitchFamily="49" charset="-120"/>
              </a:rPr>
              <a:t>1 · TOOL</a:t>
            </a:r>
            <a:endParaRPr lang="en-US" sz="1200" dirty="0"/>
          </a:p>
        </p:txBody>
      </p:sp>
      <p:sp>
        <p:nvSpPr>
          <p:cNvPr id="6" name="Text 4"/>
          <p:cNvSpPr/>
          <p:nvPr/>
        </p:nvSpPr>
        <p:spPr>
          <a:xfrm>
            <a:off x="1002697" y="2886551"/>
            <a:ext cx="130505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Read</a:t>
            </a:r>
            <a:endParaRPr lang="en-US" sz="1600" dirty="0"/>
          </a:p>
        </p:txBody>
      </p:sp>
      <p:sp>
        <p:nvSpPr>
          <p:cNvPr id="7" name="Text 5"/>
          <p:cNvSpPr/>
          <p:nvPr/>
        </p:nvSpPr>
        <p:spPr>
          <a:xfrm>
            <a:off x="1002697" y="3181065"/>
            <a:ext cx="13050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Prices, headlines, portfolio</a:t>
            </a:r>
            <a:endParaRPr lang="en-US" sz="1200" dirty="0"/>
          </a:p>
        </p:txBody>
      </p:sp>
      <p:sp>
        <p:nvSpPr>
          <p:cNvPr id="8" name="Shape 6"/>
          <p:cNvSpPr/>
          <p:nvPr/>
        </p:nvSpPr>
        <p:spPr>
          <a:xfrm>
            <a:off x="2605532" y="2438845"/>
            <a:ext cx="1621505" cy="1565879"/>
          </a:xfrm>
          <a:prstGeom prst="roundRect">
            <a:avLst>
              <a:gd name="adj" fmla="val 6083"/>
            </a:avLst>
          </a:prstGeom>
          <a:solidFill>
            <a:srgbClr val="FBF9F4"/>
          </a:solidFill>
          <a:ln w="12700">
            <a:solidFill>
              <a:srgbClr val="D9D4C7"/>
            </a:solidFill>
            <a:prstDash val="solid"/>
          </a:ln>
        </p:spPr>
      </p:sp>
      <p:sp>
        <p:nvSpPr>
          <p:cNvPr id="9" name="Text 7"/>
          <p:cNvSpPr/>
          <p:nvPr/>
        </p:nvSpPr>
        <p:spPr>
          <a:xfrm>
            <a:off x="2789111" y="2622423"/>
            <a:ext cx="1305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62"/>
                </a:solidFill>
                <a:latin typeface="JetBrains Mono" pitchFamily="49" charset="0"/>
                <a:ea typeface="JetBrains Mono" pitchFamily="49" charset="-122"/>
                <a:cs typeface="JetBrains Mono" pitchFamily="49" charset="-120"/>
              </a:rPr>
              <a:t>2 · TOOL</a:t>
            </a:r>
            <a:endParaRPr lang="en-US" sz="1200" dirty="0"/>
          </a:p>
        </p:txBody>
      </p:sp>
      <p:sp>
        <p:nvSpPr>
          <p:cNvPr id="10" name="Text 8"/>
          <p:cNvSpPr/>
          <p:nvPr/>
        </p:nvSpPr>
        <p:spPr>
          <a:xfrm>
            <a:off x="2789111" y="2886551"/>
            <a:ext cx="1305147"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Backtest</a:t>
            </a:r>
            <a:endParaRPr lang="en-US" sz="1600" dirty="0"/>
          </a:p>
        </p:txBody>
      </p:sp>
      <p:sp>
        <p:nvSpPr>
          <p:cNvPr id="11" name="Text 9"/>
          <p:cNvSpPr/>
          <p:nvPr/>
        </p:nvSpPr>
        <p:spPr>
          <a:xfrm>
            <a:off x="2789111" y="3181065"/>
            <a:ext cx="130514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candidate strategy, trailing window</a:t>
            </a:r>
            <a:endParaRPr lang="en-US" sz="1200" dirty="0"/>
          </a:p>
        </p:txBody>
      </p:sp>
      <p:sp>
        <p:nvSpPr>
          <p:cNvPr id="12" name="Shape 10"/>
          <p:cNvSpPr/>
          <p:nvPr/>
        </p:nvSpPr>
        <p:spPr>
          <a:xfrm>
            <a:off x="4392042" y="2438845"/>
            <a:ext cx="1621409" cy="1565879"/>
          </a:xfrm>
          <a:prstGeom prst="roundRect">
            <a:avLst>
              <a:gd name="adj" fmla="val 6083"/>
            </a:avLst>
          </a:prstGeom>
          <a:solidFill>
            <a:srgbClr val="FBF9F4"/>
          </a:solidFill>
          <a:ln w="12700">
            <a:solidFill>
              <a:srgbClr val="D9D4C7"/>
            </a:solidFill>
            <a:prstDash val="solid"/>
          </a:ln>
        </p:spPr>
      </p:sp>
      <p:sp>
        <p:nvSpPr>
          <p:cNvPr id="13" name="Text 11"/>
          <p:cNvSpPr/>
          <p:nvPr/>
        </p:nvSpPr>
        <p:spPr>
          <a:xfrm>
            <a:off x="4575620" y="2622423"/>
            <a:ext cx="13050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62"/>
                </a:solidFill>
                <a:latin typeface="JetBrains Mono" pitchFamily="49" charset="0"/>
                <a:ea typeface="JetBrains Mono" pitchFamily="49" charset="-122"/>
                <a:cs typeface="JetBrains Mono" pitchFamily="49" charset="-120"/>
              </a:rPr>
              <a:t>3 · LLM</a:t>
            </a:r>
            <a:endParaRPr lang="en-US" sz="1200" dirty="0"/>
          </a:p>
        </p:txBody>
      </p:sp>
      <p:sp>
        <p:nvSpPr>
          <p:cNvPr id="14" name="Text 12"/>
          <p:cNvSpPr/>
          <p:nvPr/>
        </p:nvSpPr>
        <p:spPr>
          <a:xfrm>
            <a:off x="4575620" y="2886551"/>
            <a:ext cx="130505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Pick</a:t>
            </a:r>
            <a:endParaRPr lang="en-US" sz="1600" dirty="0"/>
          </a:p>
        </p:txBody>
      </p:sp>
      <p:sp>
        <p:nvSpPr>
          <p:cNvPr id="15" name="Text 13"/>
          <p:cNvSpPr/>
          <p:nvPr/>
        </p:nvSpPr>
        <p:spPr>
          <a:xfrm>
            <a:off x="4575620" y="3181065"/>
            <a:ext cx="13050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Best risk-adjusted fit for now</a:t>
            </a:r>
            <a:endParaRPr lang="en-US" sz="1200" dirty="0"/>
          </a:p>
        </p:txBody>
      </p:sp>
      <p:sp>
        <p:nvSpPr>
          <p:cNvPr id="16" name="Shape 14"/>
          <p:cNvSpPr/>
          <p:nvPr/>
        </p:nvSpPr>
        <p:spPr>
          <a:xfrm>
            <a:off x="6178456" y="2438845"/>
            <a:ext cx="1621505" cy="1565879"/>
          </a:xfrm>
          <a:prstGeom prst="roundRect">
            <a:avLst>
              <a:gd name="adj" fmla="val 6083"/>
            </a:avLst>
          </a:prstGeom>
          <a:solidFill>
            <a:srgbClr val="FBF9F4"/>
          </a:solidFill>
          <a:ln w="12700">
            <a:solidFill>
              <a:srgbClr val="D9D4C7"/>
            </a:solidFill>
            <a:prstDash val="solid"/>
          </a:ln>
        </p:spPr>
      </p:sp>
      <p:sp>
        <p:nvSpPr>
          <p:cNvPr id="17" name="Text 15"/>
          <p:cNvSpPr/>
          <p:nvPr/>
        </p:nvSpPr>
        <p:spPr>
          <a:xfrm>
            <a:off x="6362034" y="2622423"/>
            <a:ext cx="1305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62"/>
                </a:solidFill>
                <a:latin typeface="JetBrains Mono" pitchFamily="49" charset="0"/>
                <a:ea typeface="JetBrains Mono" pitchFamily="49" charset="-122"/>
                <a:cs typeface="JetBrains Mono" pitchFamily="49" charset="-120"/>
              </a:rPr>
              <a:t>4 · LLM</a:t>
            </a:r>
            <a:endParaRPr lang="en-US" sz="1200" dirty="0"/>
          </a:p>
        </p:txBody>
      </p:sp>
      <p:sp>
        <p:nvSpPr>
          <p:cNvPr id="18" name="Text 16"/>
          <p:cNvSpPr/>
          <p:nvPr/>
        </p:nvSpPr>
        <p:spPr>
          <a:xfrm>
            <a:off x="6362034" y="2886551"/>
            <a:ext cx="1305147"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Review</a:t>
            </a:r>
            <a:endParaRPr lang="en-US" sz="1600" dirty="0"/>
          </a:p>
        </p:txBody>
      </p:sp>
      <p:sp>
        <p:nvSpPr>
          <p:cNvPr id="19" name="Text 17"/>
          <p:cNvSpPr/>
          <p:nvPr/>
        </p:nvSpPr>
        <p:spPr>
          <a:xfrm>
            <a:off x="6362034" y="3181065"/>
            <a:ext cx="130514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Confirm or veto a signal; may shrink size</a:t>
            </a:r>
            <a:endParaRPr lang="en-US" sz="1200" dirty="0"/>
          </a:p>
        </p:txBody>
      </p:sp>
      <p:sp>
        <p:nvSpPr>
          <p:cNvPr id="20" name="Shape 18"/>
          <p:cNvSpPr/>
          <p:nvPr/>
        </p:nvSpPr>
        <p:spPr>
          <a:xfrm>
            <a:off x="7964965" y="2438845"/>
            <a:ext cx="1621409" cy="1565879"/>
          </a:xfrm>
          <a:prstGeom prst="roundRect">
            <a:avLst>
              <a:gd name="adj" fmla="val 6083"/>
            </a:avLst>
          </a:prstGeom>
          <a:solidFill>
            <a:srgbClr val="0F1B2D"/>
          </a:solidFill>
          <a:ln w="12700">
            <a:solidFill>
              <a:srgbClr val="0F1B2D"/>
            </a:solidFill>
            <a:prstDash val="solid"/>
          </a:ln>
        </p:spPr>
      </p:sp>
      <p:sp>
        <p:nvSpPr>
          <p:cNvPr id="21" name="Text 19"/>
          <p:cNvSpPr/>
          <p:nvPr/>
        </p:nvSpPr>
        <p:spPr>
          <a:xfrm>
            <a:off x="8148544" y="2622423"/>
            <a:ext cx="13050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B0"/>
                </a:solidFill>
                <a:latin typeface="JetBrains Mono" pitchFamily="49" charset="0"/>
                <a:ea typeface="JetBrains Mono" pitchFamily="49" charset="-122"/>
                <a:cs typeface="JetBrains Mono" pitchFamily="49" charset="-120"/>
              </a:rPr>
              <a:t>5 · CODE</a:t>
            </a:r>
            <a:endParaRPr lang="en-US" sz="1200" dirty="0"/>
          </a:p>
        </p:txBody>
      </p:sp>
      <p:sp>
        <p:nvSpPr>
          <p:cNvPr id="22" name="Text 20"/>
          <p:cNvSpPr/>
          <p:nvPr/>
        </p:nvSpPr>
        <p:spPr>
          <a:xfrm>
            <a:off x="8148544" y="2886551"/>
            <a:ext cx="130505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DE9DF"/>
                </a:solidFill>
                <a:latin typeface="IBM Plex Sans" pitchFamily="34" charset="0"/>
                <a:ea typeface="IBM Plex Sans" pitchFamily="34" charset="-122"/>
                <a:cs typeface="IBM Plex Sans" pitchFamily="34" charset="-120"/>
              </a:rPr>
              <a:t>Gate</a:t>
            </a:r>
            <a:endParaRPr lang="en-US" sz="1600" dirty="0"/>
          </a:p>
        </p:txBody>
      </p:sp>
      <p:sp>
        <p:nvSpPr>
          <p:cNvPr id="23" name="Text 21"/>
          <p:cNvSpPr/>
          <p:nvPr/>
        </p:nvSpPr>
        <p:spPr>
          <a:xfrm>
            <a:off x="8148544" y="3181065"/>
            <a:ext cx="13050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Sizes the trade, sets the stop, enforces limits</a:t>
            </a:r>
            <a:endParaRPr lang="en-US" sz="1200" dirty="0"/>
          </a:p>
        </p:txBody>
      </p:sp>
      <p:sp>
        <p:nvSpPr>
          <p:cNvPr id="24" name="Shape 22"/>
          <p:cNvSpPr/>
          <p:nvPr/>
        </p:nvSpPr>
        <p:spPr>
          <a:xfrm>
            <a:off x="9751379" y="2438845"/>
            <a:ext cx="1621409" cy="1565879"/>
          </a:xfrm>
          <a:prstGeom prst="roundRect">
            <a:avLst>
              <a:gd name="adj" fmla="val 6083"/>
            </a:avLst>
          </a:prstGeom>
          <a:solidFill>
            <a:srgbClr val="FBF9F4"/>
          </a:solidFill>
          <a:ln w="12700">
            <a:solidFill>
              <a:srgbClr val="D9D4C7"/>
            </a:solidFill>
            <a:prstDash val="solid"/>
          </a:ln>
        </p:spPr>
      </p:sp>
      <p:sp>
        <p:nvSpPr>
          <p:cNvPr id="25" name="Text 23"/>
          <p:cNvSpPr/>
          <p:nvPr/>
        </p:nvSpPr>
        <p:spPr>
          <a:xfrm>
            <a:off x="9934958" y="2622423"/>
            <a:ext cx="13050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62"/>
                </a:solidFill>
                <a:latin typeface="JetBrains Mono" pitchFamily="49" charset="0"/>
                <a:ea typeface="JetBrains Mono" pitchFamily="49" charset="-122"/>
                <a:cs typeface="JetBrains Mono" pitchFamily="49" charset="-120"/>
              </a:rPr>
              <a:t>6 · CODE</a:t>
            </a:r>
            <a:endParaRPr lang="en-US" sz="1200" dirty="0"/>
          </a:p>
        </p:txBody>
      </p:sp>
      <p:sp>
        <p:nvSpPr>
          <p:cNvPr id="26" name="Text 24"/>
          <p:cNvSpPr/>
          <p:nvPr/>
        </p:nvSpPr>
        <p:spPr>
          <a:xfrm>
            <a:off x="9934958" y="2886551"/>
            <a:ext cx="130505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Journal</a:t>
            </a:r>
            <a:endParaRPr lang="en-US" sz="1600" dirty="0"/>
          </a:p>
        </p:txBody>
      </p:sp>
      <p:sp>
        <p:nvSpPr>
          <p:cNvPr id="27" name="Text 25"/>
          <p:cNvSpPr/>
          <p:nvPr/>
        </p:nvSpPr>
        <p:spPr>
          <a:xfrm>
            <a:off x="9934958" y="3181065"/>
            <a:ext cx="13050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Plain-language reason for each trade and skip</a:t>
            </a:r>
            <a:endParaRPr lang="en-US" sz="1200" dirty="0"/>
          </a:p>
        </p:txBody>
      </p:sp>
      <p:sp>
        <p:nvSpPr>
          <p:cNvPr id="28" name="Shape 26"/>
          <p:cNvSpPr/>
          <p:nvPr/>
        </p:nvSpPr>
        <p:spPr>
          <a:xfrm>
            <a:off x="812768" y="4822507"/>
            <a:ext cx="6248401" cy="0"/>
          </a:xfrm>
          <a:prstGeom prst="line">
            <a:avLst/>
          </a:prstGeom>
          <a:noFill/>
          <a:ln w="19050">
            <a:solidFill>
              <a:srgbClr val="0B7A62"/>
            </a:solidFill>
            <a:prstDash val="solid"/>
          </a:ln>
        </p:spPr>
      </p:sp>
      <p:sp>
        <p:nvSpPr>
          <p:cNvPr id="29" name="Text 27"/>
          <p:cNvSpPr/>
          <p:nvPr/>
        </p:nvSpPr>
        <p:spPr>
          <a:xfrm>
            <a:off x="812768" y="5009007"/>
            <a:ext cx="643585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2"/>
                </a:solidFill>
                <a:latin typeface="JetBrains Mono" pitchFamily="49" charset="0"/>
                <a:ea typeface="JetBrains Mono" pitchFamily="49" charset="-122"/>
                <a:cs typeface="JetBrains Mono" pitchFamily="49" charset="-120"/>
              </a:rPr>
              <a:t>READ-ONLY TOOLS</a:t>
            </a:r>
            <a:endParaRPr lang="en-US" sz="1200" dirty="0"/>
          </a:p>
        </p:txBody>
      </p:sp>
      <p:sp>
        <p:nvSpPr>
          <p:cNvPr id="30" name="Text 28"/>
          <p:cNvSpPr/>
          <p:nvPr/>
        </p:nvSpPr>
        <p:spPr>
          <a:xfrm>
            <a:off x="812768" y="5273135"/>
            <a:ext cx="6435853"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get_market_overview, get_news, run_backtest, get_portfolio, get_risk_status, get_memory</a:t>
            </a:r>
            <a:endParaRPr lang="en-US" sz="1600" dirty="0"/>
          </a:p>
        </p:txBody>
      </p:sp>
      <p:sp>
        <p:nvSpPr>
          <p:cNvPr id="31" name="Shape 29"/>
          <p:cNvSpPr/>
          <p:nvPr/>
        </p:nvSpPr>
        <p:spPr>
          <a:xfrm>
            <a:off x="7213474" y="4822507"/>
            <a:ext cx="4165664" cy="0"/>
          </a:xfrm>
          <a:prstGeom prst="line">
            <a:avLst/>
          </a:prstGeom>
          <a:noFill/>
          <a:ln w="19050">
            <a:solidFill>
              <a:srgbClr val="0B7A62"/>
            </a:solidFill>
            <a:prstDash val="solid"/>
          </a:ln>
        </p:spPr>
      </p:sp>
      <p:sp>
        <p:nvSpPr>
          <p:cNvPr id="32" name="Text 30"/>
          <p:cNvSpPr/>
          <p:nvPr/>
        </p:nvSpPr>
        <p:spPr>
          <a:xfrm>
            <a:off x="7213474" y="5009007"/>
            <a:ext cx="429063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2"/>
                </a:solidFill>
                <a:latin typeface="JetBrains Mono" pitchFamily="49" charset="0"/>
                <a:ea typeface="JetBrains Mono" pitchFamily="49" charset="-122"/>
                <a:cs typeface="JetBrains Mono" pitchFamily="49" charset="-120"/>
              </a:rPr>
              <a:t>MEMORY</a:t>
            </a:r>
            <a:endParaRPr lang="en-US" sz="1200" dirty="0"/>
          </a:p>
        </p:txBody>
      </p:sp>
      <p:sp>
        <p:nvSpPr>
          <p:cNvPr id="33" name="Text 31"/>
          <p:cNvSpPr/>
          <p:nvPr/>
        </p:nvSpPr>
        <p:spPr>
          <a:xfrm>
            <a:off x="7213474" y="5273135"/>
            <a:ext cx="4290634"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Realised results per strategy carry into the next session.</a:t>
            </a:r>
            <a:endParaRPr lang="en-US" sz="1600" dirty="0"/>
          </a:p>
        </p:txBody>
      </p:sp>
      <p:sp>
        <p:nvSpPr>
          <p:cNvPr id="34" name="Text 32"/>
          <p:cNvSpPr/>
          <p:nvPr/>
        </p:nvSpPr>
        <p:spPr>
          <a:xfrm>
            <a:off x="812768" y="6238208"/>
            <a:ext cx="10883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Team Aqvyn · PS-02 · 3 / 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68" y="812767"/>
            <a:ext cx="1088336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D6B0"/>
                </a:solidFill>
                <a:latin typeface="JetBrains Mono" pitchFamily="49" charset="0"/>
                <a:ea typeface="JetBrains Mono" pitchFamily="49" charset="-122"/>
                <a:cs typeface="JetBrains Mono" pitchFamily="49" charset="-120"/>
              </a:rPr>
              <a:t>GUARDRAILS</a:t>
            </a:r>
            <a:endParaRPr lang="en-US" sz="1200" dirty="0"/>
          </a:p>
        </p:txBody>
      </p:sp>
      <p:sp>
        <p:nvSpPr>
          <p:cNvPr id="3" name="Text 1"/>
          <p:cNvSpPr/>
          <p:nvPr>
            <p:ph type="title"/>
          </p:nvPr>
        </p:nvSpPr>
        <p:spPr>
          <a:xfrm>
            <a:off x="812768" y="1127665"/>
            <a:ext cx="108833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DE9DF"/>
                </a:solidFill>
                <a:latin typeface="IBM Plex Sans" pitchFamily="34" charset="0"/>
                <a:ea typeface="IBM Plex Sans" pitchFamily="34" charset="-122"/>
                <a:cs typeface="IBM Plex Sans" pitchFamily="34" charset="-120"/>
              </a:rPr>
              <a:t>The model proposes. Code disposes.</a:t>
            </a:r>
            <a:endParaRPr lang="en-US" sz="3600" dirty="0"/>
          </a:p>
        </p:txBody>
      </p:sp>
      <p:sp>
        <p:nvSpPr>
          <p:cNvPr id="4" name="Shape 2"/>
          <p:cNvSpPr/>
          <p:nvPr/>
        </p:nvSpPr>
        <p:spPr>
          <a:xfrm>
            <a:off x="819118" y="2082800"/>
            <a:ext cx="3407823" cy="1286605"/>
          </a:xfrm>
          <a:prstGeom prst="roundRect">
            <a:avLst>
              <a:gd name="adj" fmla="val 7403"/>
            </a:avLst>
          </a:prstGeom>
          <a:solidFill>
            <a:srgbClr val="16283F"/>
          </a:solidFill>
          <a:ln w="12700">
            <a:solidFill>
              <a:srgbClr val="2A3F5C"/>
            </a:solidFill>
            <a:prstDash val="solid"/>
          </a:ln>
        </p:spPr>
      </p:sp>
      <p:sp>
        <p:nvSpPr>
          <p:cNvPr id="5" name="Text 3"/>
          <p:cNvSpPr/>
          <p:nvPr/>
        </p:nvSpPr>
        <p:spPr>
          <a:xfrm>
            <a:off x="1028129" y="2291810"/>
            <a:ext cx="3079497"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DD6B0"/>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1028129" y="2733675"/>
            <a:ext cx="30794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Risk per trade. A stop-loss is mandatory.</a:t>
            </a:r>
            <a:endParaRPr lang="en-US" sz="1200" dirty="0"/>
          </a:p>
        </p:txBody>
      </p:sp>
      <p:sp>
        <p:nvSpPr>
          <p:cNvPr id="7" name="Shape 5"/>
          <p:cNvSpPr/>
          <p:nvPr/>
        </p:nvSpPr>
        <p:spPr>
          <a:xfrm>
            <a:off x="4391947" y="2082800"/>
            <a:ext cx="3407919" cy="1286605"/>
          </a:xfrm>
          <a:prstGeom prst="roundRect">
            <a:avLst>
              <a:gd name="adj" fmla="val 7403"/>
            </a:avLst>
          </a:prstGeom>
          <a:solidFill>
            <a:srgbClr val="16283F"/>
          </a:solidFill>
          <a:ln w="12700">
            <a:solidFill>
              <a:srgbClr val="2A3F5C"/>
            </a:solidFill>
            <a:prstDash val="solid"/>
          </a:ln>
        </p:spPr>
      </p:sp>
      <p:sp>
        <p:nvSpPr>
          <p:cNvPr id="8" name="Text 6"/>
          <p:cNvSpPr/>
          <p:nvPr/>
        </p:nvSpPr>
        <p:spPr>
          <a:xfrm>
            <a:off x="4600957" y="2291810"/>
            <a:ext cx="3079595"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DD6B0"/>
                </a:solidFill>
                <a:latin typeface="JetBrains Mono" pitchFamily="49" charset="0"/>
                <a:ea typeface="JetBrains Mono" pitchFamily="49" charset="-122"/>
                <a:cs typeface="JetBrains Mono" pitchFamily="49" charset="-120"/>
              </a:rPr>
              <a:t>20%</a:t>
            </a:r>
            <a:endParaRPr lang="en-US" sz="2200" dirty="0"/>
          </a:p>
        </p:txBody>
      </p:sp>
      <p:sp>
        <p:nvSpPr>
          <p:cNvPr id="9" name="Text 7"/>
          <p:cNvSpPr/>
          <p:nvPr/>
        </p:nvSpPr>
        <p:spPr>
          <a:xfrm>
            <a:off x="4600957" y="2733675"/>
            <a:ext cx="30795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Cap on any single position.</a:t>
            </a:r>
            <a:endParaRPr lang="en-US" sz="1200" dirty="0"/>
          </a:p>
        </p:txBody>
      </p:sp>
      <p:sp>
        <p:nvSpPr>
          <p:cNvPr id="10" name="Shape 8"/>
          <p:cNvSpPr/>
          <p:nvPr/>
        </p:nvSpPr>
        <p:spPr>
          <a:xfrm>
            <a:off x="7964870" y="2082800"/>
            <a:ext cx="3407919" cy="1286605"/>
          </a:xfrm>
          <a:prstGeom prst="roundRect">
            <a:avLst>
              <a:gd name="adj" fmla="val 7403"/>
            </a:avLst>
          </a:prstGeom>
          <a:solidFill>
            <a:srgbClr val="16283F"/>
          </a:solidFill>
          <a:ln w="12700">
            <a:solidFill>
              <a:srgbClr val="2A3F5C"/>
            </a:solidFill>
            <a:prstDash val="solid"/>
          </a:ln>
        </p:spPr>
      </p:sp>
      <p:sp>
        <p:nvSpPr>
          <p:cNvPr id="11" name="Text 9"/>
          <p:cNvSpPr/>
          <p:nvPr/>
        </p:nvSpPr>
        <p:spPr>
          <a:xfrm>
            <a:off x="8173880" y="2291810"/>
            <a:ext cx="3079595"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DD6B0"/>
                </a:solidFill>
                <a:latin typeface="JetBrains Mono" pitchFamily="49" charset="0"/>
                <a:ea typeface="JetBrains Mono" pitchFamily="49" charset="-122"/>
                <a:cs typeface="JetBrains Mono" pitchFamily="49" charset="-120"/>
              </a:rPr>
              <a:t>80%</a:t>
            </a:r>
            <a:endParaRPr lang="en-US" sz="2200" dirty="0"/>
          </a:p>
        </p:txBody>
      </p:sp>
      <p:sp>
        <p:nvSpPr>
          <p:cNvPr id="12" name="Text 10"/>
          <p:cNvSpPr/>
          <p:nvPr/>
        </p:nvSpPr>
        <p:spPr>
          <a:xfrm>
            <a:off x="8173880" y="2733675"/>
            <a:ext cx="3079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Cap on total exposure, five positions at most.</a:t>
            </a:r>
            <a:endParaRPr lang="en-US" sz="1200" dirty="0"/>
          </a:p>
        </p:txBody>
      </p:sp>
      <p:sp>
        <p:nvSpPr>
          <p:cNvPr id="13" name="Shape 11"/>
          <p:cNvSpPr/>
          <p:nvPr/>
        </p:nvSpPr>
        <p:spPr>
          <a:xfrm>
            <a:off x="819118" y="3534411"/>
            <a:ext cx="3407823" cy="1286605"/>
          </a:xfrm>
          <a:prstGeom prst="roundRect">
            <a:avLst>
              <a:gd name="adj" fmla="val 7403"/>
            </a:avLst>
          </a:prstGeom>
          <a:solidFill>
            <a:srgbClr val="16283F"/>
          </a:solidFill>
          <a:ln w="12700">
            <a:solidFill>
              <a:srgbClr val="2A3F5C"/>
            </a:solidFill>
            <a:prstDash val="solid"/>
          </a:ln>
        </p:spPr>
      </p:sp>
      <p:sp>
        <p:nvSpPr>
          <p:cNvPr id="14" name="Text 12"/>
          <p:cNvSpPr/>
          <p:nvPr/>
        </p:nvSpPr>
        <p:spPr>
          <a:xfrm>
            <a:off x="1028129" y="3743421"/>
            <a:ext cx="3079497"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DD6B0"/>
                </a:solidFill>
                <a:latin typeface="JetBrains Mono" pitchFamily="49" charset="0"/>
                <a:ea typeface="JetBrains Mono" pitchFamily="49" charset="-122"/>
                <a:cs typeface="JetBrains Mono" pitchFamily="49" charset="-120"/>
              </a:rPr>
              <a:t>2%</a:t>
            </a:r>
            <a:endParaRPr lang="en-US" sz="2200" dirty="0"/>
          </a:p>
        </p:txBody>
      </p:sp>
      <p:sp>
        <p:nvSpPr>
          <p:cNvPr id="15" name="Text 13"/>
          <p:cNvSpPr/>
          <p:nvPr/>
        </p:nvSpPr>
        <p:spPr>
          <a:xfrm>
            <a:off x="1028129" y="4185286"/>
            <a:ext cx="30794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Daily loss limit. A down day blocks new entries.</a:t>
            </a:r>
            <a:endParaRPr lang="en-US" sz="1200" dirty="0"/>
          </a:p>
        </p:txBody>
      </p:sp>
      <p:sp>
        <p:nvSpPr>
          <p:cNvPr id="16" name="Shape 14"/>
          <p:cNvSpPr/>
          <p:nvPr/>
        </p:nvSpPr>
        <p:spPr>
          <a:xfrm>
            <a:off x="4391947" y="3534411"/>
            <a:ext cx="3407919" cy="1286605"/>
          </a:xfrm>
          <a:prstGeom prst="roundRect">
            <a:avLst>
              <a:gd name="adj" fmla="val 7403"/>
            </a:avLst>
          </a:prstGeom>
          <a:solidFill>
            <a:srgbClr val="16283F"/>
          </a:solidFill>
          <a:ln w="12700">
            <a:solidFill>
              <a:srgbClr val="2A3F5C"/>
            </a:solidFill>
            <a:prstDash val="solid"/>
          </a:ln>
        </p:spPr>
      </p:sp>
      <p:sp>
        <p:nvSpPr>
          <p:cNvPr id="17" name="Text 15"/>
          <p:cNvSpPr/>
          <p:nvPr/>
        </p:nvSpPr>
        <p:spPr>
          <a:xfrm>
            <a:off x="4600957" y="3743421"/>
            <a:ext cx="3079595"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DD6B0"/>
                </a:solidFill>
                <a:latin typeface="JetBrains Mono" pitchFamily="49" charset="0"/>
                <a:ea typeface="JetBrains Mono" pitchFamily="49" charset="-122"/>
                <a:cs typeface="JetBrains Mono" pitchFamily="49" charset="-120"/>
              </a:rPr>
              <a:t>5 days</a:t>
            </a:r>
            <a:endParaRPr lang="en-US" sz="2200" dirty="0"/>
          </a:p>
        </p:txBody>
      </p:sp>
      <p:sp>
        <p:nvSpPr>
          <p:cNvPr id="18" name="Text 16"/>
          <p:cNvSpPr/>
          <p:nvPr/>
        </p:nvSpPr>
        <p:spPr>
          <a:xfrm>
            <a:off x="4600957" y="4185286"/>
            <a:ext cx="30795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Cooldown on a symbol after a stop-out.</a:t>
            </a:r>
            <a:endParaRPr lang="en-US" sz="1200" dirty="0"/>
          </a:p>
        </p:txBody>
      </p:sp>
      <p:sp>
        <p:nvSpPr>
          <p:cNvPr id="19" name="Shape 17"/>
          <p:cNvSpPr/>
          <p:nvPr/>
        </p:nvSpPr>
        <p:spPr>
          <a:xfrm>
            <a:off x="7964870" y="3534411"/>
            <a:ext cx="3407919" cy="1286605"/>
          </a:xfrm>
          <a:prstGeom prst="roundRect">
            <a:avLst>
              <a:gd name="adj" fmla="val 7403"/>
            </a:avLst>
          </a:prstGeom>
          <a:solidFill>
            <a:srgbClr val="16283F"/>
          </a:solidFill>
          <a:ln w="12700">
            <a:solidFill>
              <a:srgbClr val="2A3F5C"/>
            </a:solidFill>
            <a:prstDash val="solid"/>
          </a:ln>
        </p:spPr>
      </p:sp>
      <p:sp>
        <p:nvSpPr>
          <p:cNvPr id="20" name="Text 18"/>
          <p:cNvSpPr/>
          <p:nvPr/>
        </p:nvSpPr>
        <p:spPr>
          <a:xfrm>
            <a:off x="8173880" y="3743421"/>
            <a:ext cx="3079595"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DD6B0"/>
                </a:solidFill>
                <a:latin typeface="JetBrains Mono" pitchFamily="49" charset="0"/>
                <a:ea typeface="JetBrains Mono" pitchFamily="49" charset="-122"/>
                <a:cs typeface="JetBrains Mono" pitchFamily="49" charset="-120"/>
              </a:rPr>
              <a:t>Kill switch</a:t>
            </a:r>
            <a:endParaRPr lang="en-US" sz="2200" dirty="0"/>
          </a:p>
        </p:txBody>
      </p:sp>
      <p:sp>
        <p:nvSpPr>
          <p:cNvPr id="21" name="Text 19"/>
          <p:cNvSpPr/>
          <p:nvPr/>
        </p:nvSpPr>
        <p:spPr>
          <a:xfrm>
            <a:off x="8173880" y="4185286"/>
            <a:ext cx="3079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Human button. Blocks entries now; exits still run.</a:t>
            </a:r>
            <a:endParaRPr lang="en-US" sz="1200" dirty="0"/>
          </a:p>
        </p:txBody>
      </p:sp>
      <p:sp>
        <p:nvSpPr>
          <p:cNvPr id="22" name="Text 20"/>
          <p:cNvSpPr/>
          <p:nvPr/>
        </p:nvSpPr>
        <p:spPr>
          <a:xfrm>
            <a:off x="812768" y="5273135"/>
            <a:ext cx="10883361"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DE9DF"/>
                </a:solidFill>
                <a:latin typeface="IBM Plex Sans" pitchFamily="34" charset="0"/>
                <a:ea typeface="IBM Plex Sans" pitchFamily="34" charset="-122"/>
                <a:cs typeface="IBM Plex Sans" pitchFamily="34" charset="-120"/>
              </a:rPr>
              <a:t>The LLM can only veto an entry or shrink it. It cannot enlarge a trade, skip an exit or change a limit. No live-broker code exists, and a test with a deliberately reckless model checks this.</a:t>
            </a:r>
            <a:endParaRPr lang="en-US" sz="1600" dirty="0"/>
          </a:p>
        </p:txBody>
      </p:sp>
      <p:sp>
        <p:nvSpPr>
          <p:cNvPr id="23" name="Text 21"/>
          <p:cNvSpPr/>
          <p:nvPr/>
        </p:nvSpPr>
        <p:spPr>
          <a:xfrm>
            <a:off x="812768" y="6238208"/>
            <a:ext cx="10883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Team Aqvyn · PS-02 · 4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768" y="812766"/>
            <a:ext cx="1088336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2"/>
                </a:solidFill>
                <a:latin typeface="JetBrains Mono" pitchFamily="49" charset="0"/>
                <a:ea typeface="JetBrains Mono" pitchFamily="49" charset="-122"/>
                <a:cs typeface="JetBrains Mono" pitchFamily="49" charset="-120"/>
              </a:rPr>
              <a:t>EARLY EVIDENCE</a:t>
            </a:r>
            <a:endParaRPr lang="en-US" sz="1200" dirty="0"/>
          </a:p>
        </p:txBody>
      </p:sp>
      <p:sp>
        <p:nvSpPr>
          <p:cNvPr id="3" name="Text 1"/>
          <p:cNvSpPr/>
          <p:nvPr>
            <p:ph type="title"/>
          </p:nvPr>
        </p:nvSpPr>
        <p:spPr>
          <a:xfrm>
            <a:off x="812768" y="1127665"/>
            <a:ext cx="108833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Smaller losses, not bigger wins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960" y="1972342"/>
          <a:ext cx="10554178" cy="1754886"/>
        </p:xfrm>
        <a:graphic>
          <a:graphicData uri="http://schemas.openxmlformats.org/drawingml/2006/table">
            <a:tbl>
              <a:tblPr/>
              <a:tblGrid>
                <a:gridCol w="4643838"/>
                <a:gridCol w="2955170"/>
                <a:gridCol w="2955170"/>
              </a:tblGrid>
              <a:tr h="438722">
                <a:tc>
                  <a:txBody>
                    <a:bodyPr/>
                    <a:lstStyle/>
                    <a:p>
                      <a:pPr indent="0" marL="0">
                        <a:lnSpc>
                          <a:spcPts val="2240"/>
                        </a:lnSpc>
                        <a:buNone/>
                      </a:pPr>
                      <a:r>
                        <a:rPr lang="en-US" sz="1600" b="1" dirty="0">
                          <a:solidFill>
                            <a:srgbClr val="EDE9DF"/>
                          </a:solidFill>
                          <a:latin typeface="IBM Plex Sans" pitchFamily="34" charset="0"/>
                          <a:ea typeface="IBM Plex Sans" pitchFamily="34" charset="-122"/>
                          <a:cs typeface="IBM Plex Sans" pitchFamily="34" charset="-120"/>
                        </a:rPr>
                        <a:t>30 synthetic markets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0BB"/>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algn="r" indent="0" marL="0">
                        <a:lnSpc>
                          <a:spcPts val="2240"/>
                        </a:lnSpc>
                        <a:buNone/>
                      </a:pPr>
                      <a:r>
                        <a:rPr lang="en-US" sz="1600" b="1" dirty="0">
                          <a:solidFill>
                            <a:srgbClr val="EDE9DF"/>
                          </a:solidFill>
                          <a:latin typeface="IBM Plex Sans" pitchFamily="34" charset="0"/>
                          <a:ea typeface="IBM Plex Sans" pitchFamily="34" charset="-122"/>
                          <a:cs typeface="IBM Plex Sans" pitchFamily="34" charset="-120"/>
                        </a:rPr>
                        <a:t>Our agent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algn="r" indent="0" marL="0">
                        <a:lnSpc>
                          <a:spcPts val="2240"/>
                        </a:lnSpc>
                        <a:buNone/>
                      </a:pPr>
                      <a:r>
                        <a:rPr lang="en-US" sz="1600" b="1" dirty="0">
                          <a:solidFill>
                            <a:srgbClr val="EDE9DF"/>
                          </a:solidFill>
                          <a:latin typeface="IBM Plex Sans" pitchFamily="34" charset="0"/>
                          <a:ea typeface="IBM Plex Sans" pitchFamily="34" charset="-122"/>
                          <a:cs typeface="IBM Plex Sans" pitchFamily="34" charset="-120"/>
                        </a:rPr>
                        <a:t>Buy-and-hold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438722">
                <a:tc>
                  <a:txBody>
                    <a:bodyPr/>
                    <a:lstStyle/>
                    <a:p>
                      <a:pP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Falling markets, return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0BB"/>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algn="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−1.2%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algn="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−11.7%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r>
              <a:tr h="438722">
                <a:tc>
                  <a:txBody>
                    <a:bodyPr/>
                    <a:lstStyle/>
                    <a:p>
                      <a:pP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Rising markets, return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algn="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+4.5%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algn="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+24.2%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438722">
                <a:tc>
                  <a:txBody>
                    <a:bodyPr/>
                    <a:lstStyle/>
                    <a:p>
                      <a:pP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Max drawdown, average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0BB"/>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algn="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−5.6%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algn="r"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−15.6%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r>
            </a:tbl>
          </a:graphicData>
        </a:graphic>
      </p:graphicFrame>
      <p:sp>
        <p:nvSpPr>
          <p:cNvPr id="5" name="Shape 2"/>
          <p:cNvSpPr/>
          <p:nvPr/>
        </p:nvSpPr>
        <p:spPr>
          <a:xfrm>
            <a:off x="812768" y="4066223"/>
            <a:ext cx="5207033" cy="0"/>
          </a:xfrm>
          <a:prstGeom prst="line">
            <a:avLst/>
          </a:prstGeom>
          <a:noFill/>
          <a:ln w="19050">
            <a:solidFill>
              <a:srgbClr val="0B7A62"/>
            </a:solidFill>
            <a:prstDash val="solid"/>
          </a:ln>
        </p:spPr>
      </p:sp>
      <p:sp>
        <p:nvSpPr>
          <p:cNvPr id="6" name="Text 3"/>
          <p:cNvSpPr/>
          <p:nvPr/>
        </p:nvSpPr>
        <p:spPr>
          <a:xfrm>
            <a:off x="812768" y="4252720"/>
            <a:ext cx="536324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2"/>
                </a:solidFill>
                <a:latin typeface="JetBrains Mono" pitchFamily="49" charset="0"/>
                <a:ea typeface="JetBrains Mono" pitchFamily="49" charset="-122"/>
                <a:cs typeface="JetBrains Mono" pitchFamily="49" charset="-120"/>
              </a:rPr>
              <a:t>WHAT WE CLAIM</a:t>
            </a:r>
            <a:endParaRPr lang="en-US" sz="1200" dirty="0"/>
          </a:p>
        </p:txBody>
      </p:sp>
      <p:sp>
        <p:nvSpPr>
          <p:cNvPr id="7" name="Text 4"/>
          <p:cNvSpPr/>
          <p:nvPr/>
        </p:nvSpPr>
        <p:spPr>
          <a:xfrm>
            <a:off x="812768" y="4516850"/>
            <a:ext cx="5363244"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Disciplined, explainable risk control: about a third of the drawdown.</a:t>
            </a:r>
            <a:endParaRPr lang="en-US" sz="1600" dirty="0"/>
          </a:p>
        </p:txBody>
      </p:sp>
      <p:sp>
        <p:nvSpPr>
          <p:cNvPr id="8" name="Shape 5"/>
          <p:cNvSpPr/>
          <p:nvPr/>
        </p:nvSpPr>
        <p:spPr>
          <a:xfrm>
            <a:off x="6172106" y="4066223"/>
            <a:ext cx="5207033" cy="0"/>
          </a:xfrm>
          <a:prstGeom prst="line">
            <a:avLst/>
          </a:prstGeom>
          <a:noFill/>
          <a:ln w="19050">
            <a:solidFill>
              <a:srgbClr val="0F1B2D"/>
            </a:solidFill>
            <a:prstDash val="solid"/>
          </a:ln>
        </p:spPr>
      </p:sp>
      <p:sp>
        <p:nvSpPr>
          <p:cNvPr id="9" name="Text 6"/>
          <p:cNvSpPr/>
          <p:nvPr/>
        </p:nvSpPr>
        <p:spPr>
          <a:xfrm>
            <a:off x="6172106" y="4252720"/>
            <a:ext cx="536324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F1B2D"/>
                </a:solidFill>
                <a:latin typeface="JetBrains Mono" pitchFamily="49" charset="0"/>
                <a:ea typeface="JetBrains Mono" pitchFamily="49" charset="-122"/>
                <a:cs typeface="JetBrains Mono" pitchFamily="49" charset="-120"/>
              </a:rPr>
              <a:t>WHAT WE DO NOT CLAIM</a:t>
            </a:r>
            <a:endParaRPr lang="en-US" sz="1200" dirty="0"/>
          </a:p>
        </p:txBody>
      </p:sp>
      <p:sp>
        <p:nvSpPr>
          <p:cNvPr id="10" name="Text 7"/>
          <p:cNvSpPr/>
          <p:nvPr/>
        </p:nvSpPr>
        <p:spPr>
          <a:xfrm>
            <a:off x="6172106" y="4516850"/>
            <a:ext cx="5363244" cy="59423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Beating the market. We beat buy-and-hold in 9 of 30 markets and lag in rising ones.</a:t>
            </a:r>
            <a:endParaRPr lang="en-US" sz="1600" dirty="0"/>
          </a:p>
        </p:txBody>
      </p:sp>
      <p:sp>
        <p:nvSpPr>
          <p:cNvPr id="11" name="Text 8"/>
          <p:cNvSpPr/>
          <p:nvPr/>
        </p:nvSpPr>
        <p:spPr>
          <a:xfrm>
            <a:off x="812768" y="5415248"/>
            <a:ext cx="108833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Table: synthetic data, rule-based stand-in agent, costs included. One live-model session (gemini-3.7-flash, 150 synthetic days): 0 fallbacks, +3.6% vs −7.9% buy-and-hold, drawdown −2.3% vs −13.4%. One run, not a statistic.</a:t>
            </a:r>
            <a:endParaRPr lang="en-US" sz="1200" dirty="0"/>
          </a:p>
        </p:txBody>
      </p:sp>
      <p:sp>
        <p:nvSpPr>
          <p:cNvPr id="12" name="Text 9"/>
          <p:cNvSpPr/>
          <p:nvPr/>
        </p:nvSpPr>
        <p:spPr>
          <a:xfrm>
            <a:off x="812768" y="6238208"/>
            <a:ext cx="10883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Team Aqvyn · PS-02 · 5 /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768" y="812769"/>
            <a:ext cx="1088336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D6B0"/>
                </a:solidFill>
                <a:latin typeface="JetBrains Mono" pitchFamily="49" charset="0"/>
                <a:ea typeface="JetBrains Mono" pitchFamily="49" charset="-122"/>
                <a:cs typeface="JetBrains Mono" pitchFamily="49" charset="-120"/>
              </a:rPr>
              <a:t>24-HOUR PLAN</a:t>
            </a:r>
            <a:endParaRPr lang="en-US" sz="1200" dirty="0"/>
          </a:p>
        </p:txBody>
      </p:sp>
      <p:sp>
        <p:nvSpPr>
          <p:cNvPr id="3" name="Text 1"/>
          <p:cNvSpPr/>
          <p:nvPr>
            <p:ph type="title"/>
          </p:nvPr>
        </p:nvSpPr>
        <p:spPr>
          <a:xfrm>
            <a:off x="812768" y="1127665"/>
            <a:ext cx="108833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DE9DF"/>
                </a:solidFill>
                <a:latin typeface="IBM Plex Sans" pitchFamily="34" charset="0"/>
                <a:ea typeface="IBM Plex Sans" pitchFamily="34" charset="-122"/>
                <a:cs typeface="IBM Plex Sans" pitchFamily="34" charset="-120"/>
              </a:rPr>
              <a:t>From idea to demo, 11–12 Nov</a:t>
            </a:r>
            <a:endParaRPr lang="en-US" sz="3600" dirty="0"/>
          </a:p>
        </p:txBody>
      </p:sp>
      <p:sp>
        <p:nvSpPr>
          <p:cNvPr id="4" name="Shape 2"/>
          <p:cNvSpPr/>
          <p:nvPr/>
        </p:nvSpPr>
        <p:spPr>
          <a:xfrm>
            <a:off x="819118" y="2144427"/>
            <a:ext cx="2514664" cy="1565879"/>
          </a:xfrm>
          <a:prstGeom prst="roundRect">
            <a:avLst>
              <a:gd name="adj" fmla="val 6083"/>
            </a:avLst>
          </a:prstGeom>
          <a:solidFill>
            <a:srgbClr val="16283F"/>
          </a:solidFill>
          <a:ln w="12700">
            <a:solidFill>
              <a:srgbClr val="2A3F5C"/>
            </a:solidFill>
            <a:prstDash val="solid"/>
          </a:ln>
        </p:spPr>
      </p:sp>
      <p:sp>
        <p:nvSpPr>
          <p:cNvPr id="5" name="Text 3"/>
          <p:cNvSpPr/>
          <p:nvPr/>
        </p:nvSpPr>
        <p:spPr>
          <a:xfrm>
            <a:off x="1002697" y="2328007"/>
            <a:ext cx="22119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B0"/>
                </a:solidFill>
                <a:latin typeface="JetBrains Mono" pitchFamily="49" charset="0"/>
                <a:ea typeface="JetBrains Mono" pitchFamily="49" charset="-122"/>
                <a:cs typeface="JetBrains Mono" pitchFamily="49" charset="-120"/>
              </a:rPr>
              <a:t>HOURS 0–6</a:t>
            </a:r>
            <a:endParaRPr lang="en-US" sz="1200" dirty="0"/>
          </a:p>
        </p:txBody>
      </p:sp>
      <p:sp>
        <p:nvSpPr>
          <p:cNvPr id="6" name="Text 4"/>
          <p:cNvSpPr/>
          <p:nvPr/>
        </p:nvSpPr>
        <p:spPr>
          <a:xfrm>
            <a:off x="1002697" y="2592133"/>
            <a:ext cx="221193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DE9DF"/>
                </a:solidFill>
                <a:latin typeface="IBM Plex Sans" pitchFamily="34" charset="0"/>
                <a:ea typeface="IBM Plex Sans" pitchFamily="34" charset="-122"/>
                <a:cs typeface="IBM Plex Sans" pitchFamily="34" charset="-120"/>
              </a:rPr>
              <a:t>Core</a:t>
            </a:r>
            <a:endParaRPr lang="en-US" sz="1600" dirty="0"/>
          </a:p>
        </p:txBody>
      </p:sp>
      <p:sp>
        <p:nvSpPr>
          <p:cNvPr id="7" name="Text 5"/>
          <p:cNvSpPr/>
          <p:nvPr/>
        </p:nvSpPr>
        <p:spPr>
          <a:xfrm>
            <a:off x="1002697" y="2886649"/>
            <a:ext cx="2211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Data, paper broker, risk gate, journal</a:t>
            </a:r>
            <a:endParaRPr lang="en-US" sz="1200" dirty="0"/>
          </a:p>
        </p:txBody>
      </p:sp>
      <p:sp>
        <p:nvSpPr>
          <p:cNvPr id="8" name="Shape 6"/>
          <p:cNvSpPr/>
          <p:nvPr/>
        </p:nvSpPr>
        <p:spPr>
          <a:xfrm>
            <a:off x="3498787" y="2144427"/>
            <a:ext cx="2514664" cy="1565879"/>
          </a:xfrm>
          <a:prstGeom prst="roundRect">
            <a:avLst>
              <a:gd name="adj" fmla="val 6083"/>
            </a:avLst>
          </a:prstGeom>
          <a:solidFill>
            <a:srgbClr val="16283F"/>
          </a:solidFill>
          <a:ln w="12700">
            <a:solidFill>
              <a:srgbClr val="2A3F5C"/>
            </a:solidFill>
            <a:prstDash val="solid"/>
          </a:ln>
        </p:spPr>
      </p:sp>
      <p:sp>
        <p:nvSpPr>
          <p:cNvPr id="9" name="Text 7"/>
          <p:cNvSpPr/>
          <p:nvPr/>
        </p:nvSpPr>
        <p:spPr>
          <a:xfrm>
            <a:off x="3682366" y="2328007"/>
            <a:ext cx="22119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B0"/>
                </a:solidFill>
                <a:latin typeface="JetBrains Mono" pitchFamily="49" charset="0"/>
                <a:ea typeface="JetBrains Mono" pitchFamily="49" charset="-122"/>
                <a:cs typeface="JetBrains Mono" pitchFamily="49" charset="-120"/>
              </a:rPr>
              <a:t>HOURS 6–14</a:t>
            </a:r>
            <a:endParaRPr lang="en-US" sz="1200" dirty="0"/>
          </a:p>
        </p:txBody>
      </p:sp>
      <p:sp>
        <p:nvSpPr>
          <p:cNvPr id="10" name="Text 8"/>
          <p:cNvSpPr/>
          <p:nvPr/>
        </p:nvSpPr>
        <p:spPr>
          <a:xfrm>
            <a:off x="3682366" y="2592133"/>
            <a:ext cx="221193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DE9DF"/>
                </a:solidFill>
                <a:latin typeface="IBM Plex Sans" pitchFamily="34" charset="0"/>
                <a:ea typeface="IBM Plex Sans" pitchFamily="34" charset="-122"/>
                <a:cs typeface="IBM Plex Sans" pitchFamily="34" charset="-120"/>
              </a:rPr>
              <a:t>Agent</a:t>
            </a:r>
            <a:endParaRPr lang="en-US" sz="1600" dirty="0"/>
          </a:p>
        </p:txBody>
      </p:sp>
      <p:sp>
        <p:nvSpPr>
          <p:cNvPr id="11" name="Text 9"/>
          <p:cNvSpPr/>
          <p:nvPr/>
        </p:nvSpPr>
        <p:spPr>
          <a:xfrm>
            <a:off x="3682366" y="2886649"/>
            <a:ext cx="2211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Tools, strategy pick, news review, memory</a:t>
            </a:r>
            <a:endParaRPr lang="en-US" sz="1200" dirty="0"/>
          </a:p>
        </p:txBody>
      </p:sp>
      <p:sp>
        <p:nvSpPr>
          <p:cNvPr id="12" name="Shape 10"/>
          <p:cNvSpPr/>
          <p:nvPr/>
        </p:nvSpPr>
        <p:spPr>
          <a:xfrm>
            <a:off x="6178456" y="2144427"/>
            <a:ext cx="2514664" cy="1565879"/>
          </a:xfrm>
          <a:prstGeom prst="roundRect">
            <a:avLst>
              <a:gd name="adj" fmla="val 6083"/>
            </a:avLst>
          </a:prstGeom>
          <a:solidFill>
            <a:srgbClr val="16283F"/>
          </a:solidFill>
          <a:ln w="12700">
            <a:solidFill>
              <a:srgbClr val="2A3F5C"/>
            </a:solidFill>
            <a:prstDash val="solid"/>
          </a:ln>
        </p:spPr>
      </p:sp>
      <p:sp>
        <p:nvSpPr>
          <p:cNvPr id="13" name="Text 11"/>
          <p:cNvSpPr/>
          <p:nvPr/>
        </p:nvSpPr>
        <p:spPr>
          <a:xfrm>
            <a:off x="6362034" y="2328007"/>
            <a:ext cx="22119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B0"/>
                </a:solidFill>
                <a:latin typeface="JetBrains Mono" pitchFamily="49" charset="0"/>
                <a:ea typeface="JetBrains Mono" pitchFamily="49" charset="-122"/>
                <a:cs typeface="JetBrains Mono" pitchFamily="49" charset="-120"/>
              </a:rPr>
              <a:t>HOURS 14–20</a:t>
            </a:r>
            <a:endParaRPr lang="en-US" sz="1200" dirty="0"/>
          </a:p>
        </p:txBody>
      </p:sp>
      <p:sp>
        <p:nvSpPr>
          <p:cNvPr id="14" name="Text 12"/>
          <p:cNvSpPr/>
          <p:nvPr/>
        </p:nvSpPr>
        <p:spPr>
          <a:xfrm>
            <a:off x="6362034" y="2592133"/>
            <a:ext cx="221193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DE9DF"/>
                </a:solidFill>
                <a:latin typeface="IBM Plex Sans" pitchFamily="34" charset="0"/>
                <a:ea typeface="IBM Plex Sans" pitchFamily="34" charset="-122"/>
                <a:cs typeface="IBM Plex Sans" pitchFamily="34" charset="-120"/>
              </a:rPr>
              <a:t>Proof</a:t>
            </a:r>
            <a:endParaRPr lang="en-US" sz="1600" dirty="0"/>
          </a:p>
        </p:txBody>
      </p:sp>
      <p:sp>
        <p:nvSpPr>
          <p:cNvPr id="15" name="Text 13"/>
          <p:cNvSpPr/>
          <p:nvPr/>
        </p:nvSpPr>
        <p:spPr>
          <a:xfrm>
            <a:off x="6362034" y="2886649"/>
            <a:ext cx="221193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Real-price backtest vs buy-and-hold, dashboard, kill switch</a:t>
            </a:r>
            <a:endParaRPr lang="en-US" sz="1200" dirty="0"/>
          </a:p>
        </p:txBody>
      </p:sp>
      <p:sp>
        <p:nvSpPr>
          <p:cNvPr id="16" name="Shape 14"/>
          <p:cNvSpPr/>
          <p:nvPr/>
        </p:nvSpPr>
        <p:spPr>
          <a:xfrm>
            <a:off x="8858124" y="2144427"/>
            <a:ext cx="2514664" cy="1565879"/>
          </a:xfrm>
          <a:prstGeom prst="roundRect">
            <a:avLst>
              <a:gd name="adj" fmla="val 6083"/>
            </a:avLst>
          </a:prstGeom>
          <a:solidFill>
            <a:srgbClr val="16283F"/>
          </a:solidFill>
          <a:ln w="12700">
            <a:solidFill>
              <a:srgbClr val="2A3F5C"/>
            </a:solidFill>
            <a:prstDash val="solid"/>
          </a:ln>
        </p:spPr>
      </p:sp>
      <p:sp>
        <p:nvSpPr>
          <p:cNvPr id="17" name="Text 15"/>
          <p:cNvSpPr/>
          <p:nvPr/>
        </p:nvSpPr>
        <p:spPr>
          <a:xfrm>
            <a:off x="9041703" y="2328007"/>
            <a:ext cx="22119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D6B0"/>
                </a:solidFill>
                <a:latin typeface="JetBrains Mono" pitchFamily="49" charset="0"/>
                <a:ea typeface="JetBrains Mono" pitchFamily="49" charset="-122"/>
                <a:cs typeface="JetBrains Mono" pitchFamily="49" charset="-120"/>
              </a:rPr>
              <a:t>HOURS 20–24</a:t>
            </a:r>
            <a:endParaRPr lang="en-US" sz="1200" dirty="0"/>
          </a:p>
        </p:txBody>
      </p:sp>
      <p:sp>
        <p:nvSpPr>
          <p:cNvPr id="18" name="Text 16"/>
          <p:cNvSpPr/>
          <p:nvPr/>
        </p:nvSpPr>
        <p:spPr>
          <a:xfrm>
            <a:off x="9041703" y="2592133"/>
            <a:ext cx="2211932" cy="26914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DE9DF"/>
                </a:solidFill>
                <a:latin typeface="IBM Plex Sans" pitchFamily="34" charset="0"/>
                <a:ea typeface="IBM Plex Sans" pitchFamily="34" charset="-122"/>
                <a:cs typeface="IBM Plex Sans" pitchFamily="34" charset="-120"/>
              </a:rPr>
              <a:t>Ship</a:t>
            </a:r>
            <a:endParaRPr lang="en-US" sz="1600" dirty="0"/>
          </a:p>
        </p:txBody>
      </p:sp>
      <p:sp>
        <p:nvSpPr>
          <p:cNvPr id="19" name="Text 17"/>
          <p:cNvSpPr/>
          <p:nvPr/>
        </p:nvSpPr>
        <p:spPr>
          <a:xfrm>
            <a:off x="9041703" y="2886649"/>
            <a:ext cx="2211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README, 3-minute demo video, final deck</a:t>
            </a:r>
            <a:endParaRPr lang="en-US" sz="1200" dirty="0"/>
          </a:p>
        </p:txBody>
      </p:sp>
      <p:sp>
        <p:nvSpPr>
          <p:cNvPr id="20" name="Shape 18"/>
          <p:cNvSpPr/>
          <p:nvPr/>
        </p:nvSpPr>
        <p:spPr>
          <a:xfrm>
            <a:off x="812768" y="4233769"/>
            <a:ext cx="1991392" cy="0"/>
          </a:xfrm>
          <a:prstGeom prst="line">
            <a:avLst/>
          </a:prstGeom>
          <a:noFill/>
          <a:ln w="19050">
            <a:solidFill>
              <a:srgbClr val="3DD6B0"/>
            </a:solidFill>
            <a:prstDash val="solid"/>
          </a:ln>
        </p:spPr>
      </p:sp>
      <p:sp>
        <p:nvSpPr>
          <p:cNvPr id="21" name="Text 19"/>
          <p:cNvSpPr/>
          <p:nvPr/>
        </p:nvSpPr>
        <p:spPr>
          <a:xfrm>
            <a:off x="812768" y="4394836"/>
            <a:ext cx="2051134"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25%</a:t>
            </a:r>
            <a:endParaRPr lang="en-US" sz="2200" dirty="0"/>
          </a:p>
        </p:txBody>
      </p:sp>
      <p:sp>
        <p:nvSpPr>
          <p:cNvPr id="22" name="Text 20"/>
          <p:cNvSpPr/>
          <p:nvPr/>
        </p:nvSpPr>
        <p:spPr>
          <a:xfrm>
            <a:off x="812768" y="4836700"/>
            <a:ext cx="20511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Problem fit and impact</a:t>
            </a:r>
            <a:endParaRPr lang="en-US" sz="1200" dirty="0"/>
          </a:p>
        </p:txBody>
      </p:sp>
      <p:sp>
        <p:nvSpPr>
          <p:cNvPr id="23" name="Shape 21"/>
          <p:cNvSpPr/>
          <p:nvPr/>
        </p:nvSpPr>
        <p:spPr>
          <a:xfrm>
            <a:off x="2956465" y="4233769"/>
            <a:ext cx="1991487" cy="0"/>
          </a:xfrm>
          <a:prstGeom prst="line">
            <a:avLst/>
          </a:prstGeom>
          <a:noFill/>
          <a:ln w="19050">
            <a:solidFill>
              <a:srgbClr val="3DD6B0"/>
            </a:solidFill>
            <a:prstDash val="solid"/>
          </a:ln>
        </p:spPr>
      </p:sp>
      <p:sp>
        <p:nvSpPr>
          <p:cNvPr id="24" name="Text 22"/>
          <p:cNvSpPr/>
          <p:nvPr/>
        </p:nvSpPr>
        <p:spPr>
          <a:xfrm>
            <a:off x="2956465" y="4394836"/>
            <a:ext cx="2051232"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25%</a:t>
            </a:r>
            <a:endParaRPr lang="en-US" sz="2200" dirty="0"/>
          </a:p>
        </p:txBody>
      </p:sp>
      <p:sp>
        <p:nvSpPr>
          <p:cNvPr id="25" name="Text 23"/>
          <p:cNvSpPr/>
          <p:nvPr/>
        </p:nvSpPr>
        <p:spPr>
          <a:xfrm>
            <a:off x="2956465" y="4836700"/>
            <a:ext cx="20512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Agent design</a:t>
            </a:r>
            <a:endParaRPr lang="en-US" sz="1200" dirty="0"/>
          </a:p>
        </p:txBody>
      </p:sp>
      <p:sp>
        <p:nvSpPr>
          <p:cNvPr id="26" name="Shape 24"/>
          <p:cNvSpPr/>
          <p:nvPr/>
        </p:nvSpPr>
        <p:spPr>
          <a:xfrm>
            <a:off x="5100257" y="4233769"/>
            <a:ext cx="1991392" cy="0"/>
          </a:xfrm>
          <a:prstGeom prst="line">
            <a:avLst/>
          </a:prstGeom>
          <a:noFill/>
          <a:ln w="19050">
            <a:solidFill>
              <a:srgbClr val="3DD6B0"/>
            </a:solidFill>
            <a:prstDash val="solid"/>
          </a:ln>
        </p:spPr>
      </p:sp>
      <p:sp>
        <p:nvSpPr>
          <p:cNvPr id="27" name="Text 25"/>
          <p:cNvSpPr/>
          <p:nvPr/>
        </p:nvSpPr>
        <p:spPr>
          <a:xfrm>
            <a:off x="5100257" y="4394836"/>
            <a:ext cx="2051134"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20%</a:t>
            </a:r>
            <a:endParaRPr lang="en-US" sz="2200" dirty="0"/>
          </a:p>
        </p:txBody>
      </p:sp>
      <p:sp>
        <p:nvSpPr>
          <p:cNvPr id="28" name="Text 26"/>
          <p:cNvSpPr/>
          <p:nvPr/>
        </p:nvSpPr>
        <p:spPr>
          <a:xfrm>
            <a:off x="5100257" y="4836700"/>
            <a:ext cx="20511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Working demo</a:t>
            </a:r>
            <a:endParaRPr lang="en-US" sz="1200" dirty="0"/>
          </a:p>
        </p:txBody>
      </p:sp>
      <p:sp>
        <p:nvSpPr>
          <p:cNvPr id="29" name="Shape 27"/>
          <p:cNvSpPr/>
          <p:nvPr/>
        </p:nvSpPr>
        <p:spPr>
          <a:xfrm>
            <a:off x="7243954" y="4233769"/>
            <a:ext cx="1991487" cy="0"/>
          </a:xfrm>
          <a:prstGeom prst="line">
            <a:avLst/>
          </a:prstGeom>
          <a:noFill/>
          <a:ln w="19050">
            <a:solidFill>
              <a:srgbClr val="3DD6B0"/>
            </a:solidFill>
            <a:prstDash val="solid"/>
          </a:ln>
        </p:spPr>
      </p:sp>
      <p:sp>
        <p:nvSpPr>
          <p:cNvPr id="30" name="Text 28"/>
          <p:cNvSpPr/>
          <p:nvPr/>
        </p:nvSpPr>
        <p:spPr>
          <a:xfrm>
            <a:off x="7243954" y="4394836"/>
            <a:ext cx="2051232"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15%</a:t>
            </a:r>
            <a:endParaRPr lang="en-US" sz="2200" dirty="0"/>
          </a:p>
        </p:txBody>
      </p:sp>
      <p:sp>
        <p:nvSpPr>
          <p:cNvPr id="31" name="Text 29"/>
          <p:cNvSpPr/>
          <p:nvPr/>
        </p:nvSpPr>
        <p:spPr>
          <a:xfrm>
            <a:off x="7243954" y="4836700"/>
            <a:ext cx="20512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Innovation</a:t>
            </a:r>
            <a:endParaRPr lang="en-US" sz="1200" dirty="0"/>
          </a:p>
        </p:txBody>
      </p:sp>
      <p:sp>
        <p:nvSpPr>
          <p:cNvPr id="32" name="Shape 30"/>
          <p:cNvSpPr/>
          <p:nvPr/>
        </p:nvSpPr>
        <p:spPr>
          <a:xfrm>
            <a:off x="9387746" y="4233769"/>
            <a:ext cx="1991392" cy="0"/>
          </a:xfrm>
          <a:prstGeom prst="line">
            <a:avLst/>
          </a:prstGeom>
          <a:noFill/>
          <a:ln w="19050">
            <a:solidFill>
              <a:srgbClr val="3DD6B0"/>
            </a:solidFill>
            <a:prstDash val="solid"/>
          </a:ln>
        </p:spPr>
      </p:sp>
      <p:sp>
        <p:nvSpPr>
          <p:cNvPr id="33" name="Text 31"/>
          <p:cNvSpPr/>
          <p:nvPr/>
        </p:nvSpPr>
        <p:spPr>
          <a:xfrm>
            <a:off x="9387746" y="4394836"/>
            <a:ext cx="2051134" cy="41649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DE9DF"/>
                </a:solidFill>
                <a:latin typeface="JetBrains Mono" pitchFamily="49" charset="0"/>
                <a:ea typeface="JetBrains Mono" pitchFamily="49" charset="-122"/>
                <a:cs typeface="JetBrains Mono" pitchFamily="49" charset="-120"/>
              </a:rPr>
              <a:t>15%</a:t>
            </a:r>
            <a:endParaRPr lang="en-US" sz="2200" dirty="0"/>
          </a:p>
        </p:txBody>
      </p:sp>
      <p:sp>
        <p:nvSpPr>
          <p:cNvPr id="34" name="Text 32"/>
          <p:cNvSpPr/>
          <p:nvPr/>
        </p:nvSpPr>
        <p:spPr>
          <a:xfrm>
            <a:off x="9387746" y="4836700"/>
            <a:ext cx="20511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Presentation</a:t>
            </a:r>
            <a:endParaRPr lang="en-US" sz="1200" dirty="0"/>
          </a:p>
        </p:txBody>
      </p:sp>
      <p:sp>
        <p:nvSpPr>
          <p:cNvPr id="35" name="Text 33"/>
          <p:cNvSpPr/>
          <p:nvPr/>
        </p:nvSpPr>
        <p:spPr>
          <a:xfrm>
            <a:off x="812768" y="5557552"/>
            <a:ext cx="10883361"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DE9DF"/>
                </a:solidFill>
                <a:latin typeface="IBM Plex Sans" pitchFamily="34" charset="0"/>
                <a:ea typeface="IBM Plex Sans" pitchFamily="34" charset="-122"/>
                <a:cs typeface="IBM Plex Sans" pitchFamily="34" charset="-120"/>
              </a:rPr>
              <a:t>Team Aqvyn · 4 members · [member names]</a:t>
            </a:r>
            <a:endParaRPr lang="en-US" sz="1600" dirty="0"/>
          </a:p>
        </p:txBody>
      </p:sp>
      <p:sp>
        <p:nvSpPr>
          <p:cNvPr id="36" name="Text 34"/>
          <p:cNvSpPr/>
          <p:nvPr/>
        </p:nvSpPr>
        <p:spPr>
          <a:xfrm>
            <a:off x="812768" y="6238211"/>
            <a:ext cx="10883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7"/>
                </a:solidFill>
                <a:latin typeface="IBM Plex Sans" pitchFamily="34" charset="0"/>
                <a:ea typeface="IBM Plex Sans" pitchFamily="34" charset="-122"/>
                <a:cs typeface="IBM Plex Sans" pitchFamily="34" charset="-120"/>
              </a:rPr>
              <a:t>Team Aqvyn · PS-02 · 6 / 6</a:t>
            </a:r>
            <a:endParaRPr lang="en-US" sz="1200" dirty="0"/>
          </a:p>
        </p:txBody>
      </p:sp>
    </p:spTree>
  </p:cSld>
  <p:clrMapOvr>
    <a:masterClrMapping/>
  </p:clrMapOvr>
</p:sld>
</file>

<file path=ppt/theme/theme1.xml><?xml version="1.0" encoding="utf-8"?>
<a:theme xmlns:a="http://schemas.openxmlformats.org/drawingml/2006/main" name="AgentX PS-02 Idea Deck">
  <a:themeElements>
    <a:clrScheme name="AgentX PS-02 Idea Deck">
      <a:dk1>
        <a:srgbClr val="0F1B2D"/>
      </a:dk1>
      <a:lt1>
        <a:srgbClr val="EDE9DF"/>
      </a:lt1>
      <a:dk2>
        <a:srgbClr val="25303F"/>
      </a:dk2>
      <a:lt2>
        <a:srgbClr val="B6B6B3"/>
      </a:lt2>
      <a:accent1>
        <a:srgbClr val="3DD6B0"/>
      </a:accent1>
      <a:accent2>
        <a:srgbClr val="0B7A62"/>
      </a:accent2>
      <a:accent3>
        <a:srgbClr val="AEB9C7"/>
      </a:accent3>
      <a:accent4>
        <a:srgbClr val="3E4A5C"/>
      </a:accent4>
      <a:accent5>
        <a:srgbClr val="4A5568"/>
      </a:accent5>
      <a:accent6>
        <a:srgbClr val="9AA0A6"/>
      </a:accent6>
      <a:hlink>
        <a:srgbClr val="0563C1"/>
      </a:hlink>
      <a:folHlink>
        <a:srgbClr val="954F72"/>
      </a:folHlink>
    </a:clrScheme>
    <a:fontScheme name="AgentX PS-02 Idea Dec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AgentX PS-02 Idea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2026-10-29T16:19:57Z</dcterms:created>
  <dcterms:modified xsi:type="dcterms:W3CDTF">2026-10-29T16:19:57Z</dcterms:modified>
</cp:coreProperties>
</file>